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0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2956" y="960120"/>
            <a:ext cx="1463040" cy="1463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60604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StyleBook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0" y="36118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A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&amp; barber booking platform for Ghana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0" y="41148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7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exact time slots · join walk-in queues · run the whole shop from one app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0" y="58521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Final-Year Project Defense  ·  Adesina Elijah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a haircut in Ghana is walk-and-wait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ellipse">
            <a:avLst/>
          </a:prstGeom>
          <a:solidFill>
            <a:srgbClr val="141009"/>
          </a:solidFill>
          <a:ln/>
        </p:spPr>
      </p:sp>
      <p:pic>
        <p:nvPicPr>
          <p:cNvPr id="5" name="Image 0" descr="icons/clock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1964863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89888" y="177393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lose hours in queues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389888" y="208483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of prices, opening hours or how long the wait is — you show up and hope.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017520"/>
            <a:ext cx="566928" cy="566928"/>
          </a:xfrm>
          <a:prstGeom prst="ellipse">
            <a:avLst/>
          </a:prstGeom>
          <a:solidFill>
            <a:srgbClr val="141009"/>
          </a:solidFill>
          <a:ln/>
        </p:spPr>
      </p:sp>
      <p:pic>
        <p:nvPicPr>
          <p:cNvPr id="9" name="Image 1" descr="icons/calendar-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43" y="3153583"/>
            <a:ext cx="294803" cy="2948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89888" y="296265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cannot plan their day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389888" y="327355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appointment book, no record of regulars, no way to know if 2pm will be empty or chaos.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206240"/>
            <a:ext cx="566928" cy="566928"/>
          </a:xfrm>
          <a:prstGeom prst="ellipse">
            <a:avLst/>
          </a:prstGeom>
          <a:solidFill>
            <a:srgbClr val="141009"/>
          </a:solidFill>
          <a:ln/>
        </p:spPr>
      </p:sp>
      <p:pic>
        <p:nvPicPr>
          <p:cNvPr id="13" name="Image 2" descr="icons/search-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43" y="4342303"/>
            <a:ext cx="294803" cy="29480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89888" y="415137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is word-of-mouth only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389888" y="446227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great new shop three streets away might as well be invisible.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766560" y="1783080"/>
            <a:ext cx="4846320" cy="3566160"/>
          </a:xfrm>
          <a:prstGeom prst="roundRect">
            <a:avLst>
              <a:gd name="adj" fmla="val 3077"/>
            </a:avLst>
          </a:prstGeom>
          <a:solidFill>
            <a:srgbClr val="141009"/>
          </a:solidFill>
          <a:ln/>
        </p:spPr>
      </p:sp>
      <p:sp>
        <p:nvSpPr>
          <p:cNvPr id="17" name="Text 12"/>
          <p:cNvSpPr/>
          <p:nvPr/>
        </p:nvSpPr>
        <p:spPr>
          <a:xfrm>
            <a:off x="7132320" y="22860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AF3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 walk in, you sit, you wait.”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7132320" y="32004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virtually every salon and barbershop visit in Ghana works today — for both appointments and walk-ins.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132320" y="43891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booking apps ignore the walk-in culture.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two sides of the counter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F6F2E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141009"/>
          </a:solidFill>
          <a:ln/>
        </p:spPr>
      </p:sp>
      <p:pic>
        <p:nvPicPr>
          <p:cNvPr id="6" name="Image 0" descr="icons/smartphone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" y="22567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762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app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60120" y="297180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shops by category, city or GPS ("Near me")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prices, live open/closed status, verified reviews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exact slots generated from real opening hours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walk-in queue remotely, watch your position live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Reminders, reschedule, favourites, feed of shop posts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17920" y="173736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F6F2E7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2103120"/>
            <a:ext cx="640080" cy="640080"/>
          </a:xfrm>
          <a:prstGeom prst="ellipse">
            <a:avLst/>
          </a:prstGeom>
          <a:solidFill>
            <a:srgbClr val="141009"/>
          </a:solidFill>
          <a:ln/>
        </p:spPr>
      </p:sp>
      <p:pic>
        <p:nvPicPr>
          <p:cNvPr id="11" name="Image 1" descr="icons/scissors-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299" y="22567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1762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 dashboard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629400" y="297180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inbox — confirm or cancel, 45s auto-confirm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queue management: call next, mark done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shop editor: services, photos, hours, GPS pin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to the customer feed, replies to reviews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Pro (GHS 120) / Enterprise (GHS 300) plans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life of one booking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103120" cy="2468880"/>
          </a:xfrm>
          <a:prstGeom prst="roundRect">
            <a:avLst>
              <a:gd name="adj" fmla="val 4348"/>
            </a:avLst>
          </a:prstGeom>
          <a:solidFill>
            <a:srgbClr val="F6F2E7"/>
          </a:solidFill>
          <a:ln/>
        </p:spPr>
      </p:sp>
      <p:sp>
        <p:nvSpPr>
          <p:cNvPr id="5" name="Shape 3"/>
          <p:cNvSpPr/>
          <p:nvPr/>
        </p:nvSpPr>
        <p:spPr>
          <a:xfrm>
            <a:off x="1316736" y="2697480"/>
            <a:ext cx="566928" cy="566928"/>
          </a:xfrm>
          <a:prstGeom prst="ellipse">
            <a:avLst/>
          </a:prstGeom>
          <a:solidFill>
            <a:srgbClr val="141009"/>
          </a:solidFill>
          <a:ln/>
        </p:spPr>
      </p:sp>
      <p:pic>
        <p:nvPicPr>
          <p:cNvPr id="6" name="Image 0" descr="icons/search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2799" y="283354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429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Discover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13232" y="379476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city, category or GPS distance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670048" y="3456432"/>
            <a:ext cx="274320" cy="310896"/>
          </a:xfrm>
          <a:prstGeom prst="rightArrow">
            <a:avLst/>
          </a:prstGeom>
          <a:solidFill>
            <a:srgbClr val="C9A84C"/>
          </a:solidFill>
          <a:ln/>
        </p:spPr>
      </p:sp>
      <p:sp>
        <p:nvSpPr>
          <p:cNvPr id="10" name="Shape 7"/>
          <p:cNvSpPr/>
          <p:nvPr/>
        </p:nvSpPr>
        <p:spPr>
          <a:xfrm>
            <a:off x="2944368" y="2377440"/>
            <a:ext cx="2103120" cy="2468880"/>
          </a:xfrm>
          <a:prstGeom prst="roundRect">
            <a:avLst>
              <a:gd name="adj" fmla="val 4348"/>
            </a:avLst>
          </a:prstGeom>
          <a:solidFill>
            <a:srgbClr val="F6F2E7"/>
          </a:solidFill>
          <a:ln/>
        </p:spPr>
      </p:sp>
      <p:sp>
        <p:nvSpPr>
          <p:cNvPr id="11" name="Shape 8"/>
          <p:cNvSpPr/>
          <p:nvPr/>
        </p:nvSpPr>
        <p:spPr>
          <a:xfrm>
            <a:off x="3712464" y="2697480"/>
            <a:ext cx="566928" cy="566928"/>
          </a:xfrm>
          <a:prstGeom prst="ellipse">
            <a:avLst/>
          </a:prstGeom>
          <a:solidFill>
            <a:srgbClr val="141009"/>
          </a:solidFill>
          <a:ln/>
        </p:spPr>
      </p:sp>
      <p:pic>
        <p:nvPicPr>
          <p:cNvPr id="12" name="Image 1" descr="icons/calendar-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527" y="283354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35808" y="3429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Pick a slot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108960" y="379476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genuinely free times are shown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065776" y="3456432"/>
            <a:ext cx="274320" cy="310896"/>
          </a:xfrm>
          <a:prstGeom prst="rightArrow">
            <a:avLst/>
          </a:prstGeom>
          <a:solidFill>
            <a:srgbClr val="C9A84C"/>
          </a:solidFill>
          <a:ln/>
        </p:spPr>
      </p:sp>
      <p:sp>
        <p:nvSpPr>
          <p:cNvPr id="16" name="Shape 12"/>
          <p:cNvSpPr/>
          <p:nvPr/>
        </p:nvSpPr>
        <p:spPr>
          <a:xfrm>
            <a:off x="5340096" y="2377440"/>
            <a:ext cx="2103120" cy="2468880"/>
          </a:xfrm>
          <a:prstGeom prst="roundRect">
            <a:avLst>
              <a:gd name="adj" fmla="val 4348"/>
            </a:avLst>
          </a:prstGeom>
          <a:solidFill>
            <a:srgbClr val="F6F2E7"/>
          </a:solidFill>
          <a:ln/>
        </p:spPr>
      </p:sp>
      <p:sp>
        <p:nvSpPr>
          <p:cNvPr id="17" name="Shape 13"/>
          <p:cNvSpPr/>
          <p:nvPr/>
        </p:nvSpPr>
        <p:spPr>
          <a:xfrm>
            <a:off x="6108192" y="2697480"/>
            <a:ext cx="566928" cy="566928"/>
          </a:xfrm>
          <a:prstGeom prst="ellipse">
            <a:avLst/>
          </a:prstGeom>
          <a:solidFill>
            <a:srgbClr val="141009"/>
          </a:solidFill>
          <a:ln/>
        </p:spPr>
      </p:sp>
      <p:pic>
        <p:nvPicPr>
          <p:cNvPr id="18" name="Image 2" descr="icons/clock-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255" y="2833543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431536" y="3429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Confirm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504688" y="379476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responds — or auto-confirms in 45 s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461504" y="3456432"/>
            <a:ext cx="274320" cy="310896"/>
          </a:xfrm>
          <a:prstGeom prst="rightArrow">
            <a:avLst/>
          </a:prstGeom>
          <a:solidFill>
            <a:srgbClr val="C9A84C"/>
          </a:solidFill>
          <a:ln/>
        </p:spPr>
      </p:sp>
      <p:sp>
        <p:nvSpPr>
          <p:cNvPr id="22" name="Shape 17"/>
          <p:cNvSpPr/>
          <p:nvPr/>
        </p:nvSpPr>
        <p:spPr>
          <a:xfrm>
            <a:off x="7735824" y="2377440"/>
            <a:ext cx="2103120" cy="2468880"/>
          </a:xfrm>
          <a:prstGeom prst="roundRect">
            <a:avLst>
              <a:gd name="adj" fmla="val 4348"/>
            </a:avLst>
          </a:prstGeom>
          <a:solidFill>
            <a:srgbClr val="F6F2E7"/>
          </a:solidFill>
          <a:ln/>
        </p:spPr>
      </p:sp>
      <p:sp>
        <p:nvSpPr>
          <p:cNvPr id="23" name="Shape 18"/>
          <p:cNvSpPr/>
          <p:nvPr/>
        </p:nvSpPr>
        <p:spPr>
          <a:xfrm>
            <a:off x="8503920" y="2697480"/>
            <a:ext cx="566928" cy="566928"/>
          </a:xfrm>
          <a:prstGeom prst="ellipse">
            <a:avLst/>
          </a:prstGeom>
          <a:solidFill>
            <a:srgbClr val="141009"/>
          </a:solidFill>
          <a:ln/>
        </p:spPr>
      </p:sp>
      <p:pic>
        <p:nvPicPr>
          <p:cNvPr id="24" name="Image 3" descr="icons/scissors-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9983" y="2833543"/>
            <a:ext cx="294803" cy="29480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827264" y="3429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Get served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900416" y="379476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fires 10 min before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9857232" y="3456432"/>
            <a:ext cx="274320" cy="310896"/>
          </a:xfrm>
          <a:prstGeom prst="rightArrow">
            <a:avLst/>
          </a:prstGeom>
          <a:solidFill>
            <a:srgbClr val="C9A84C"/>
          </a:solidFill>
          <a:ln/>
        </p:spPr>
      </p:sp>
      <p:sp>
        <p:nvSpPr>
          <p:cNvPr id="28" name="Shape 22"/>
          <p:cNvSpPr/>
          <p:nvPr/>
        </p:nvSpPr>
        <p:spPr>
          <a:xfrm>
            <a:off x="10131552" y="2377440"/>
            <a:ext cx="2103120" cy="2468880"/>
          </a:xfrm>
          <a:prstGeom prst="roundRect">
            <a:avLst>
              <a:gd name="adj" fmla="val 4348"/>
            </a:avLst>
          </a:prstGeom>
          <a:solidFill>
            <a:srgbClr val="F6F2E7"/>
          </a:solidFill>
          <a:ln/>
        </p:spPr>
      </p:sp>
      <p:sp>
        <p:nvSpPr>
          <p:cNvPr id="29" name="Shape 23"/>
          <p:cNvSpPr/>
          <p:nvPr/>
        </p:nvSpPr>
        <p:spPr>
          <a:xfrm>
            <a:off x="10899648" y="2697480"/>
            <a:ext cx="566928" cy="566928"/>
          </a:xfrm>
          <a:prstGeom prst="ellipse">
            <a:avLst/>
          </a:prstGeom>
          <a:solidFill>
            <a:srgbClr val="141009"/>
          </a:solidFill>
          <a:ln/>
        </p:spPr>
      </p:sp>
      <p:pic>
        <p:nvPicPr>
          <p:cNvPr id="30" name="Image 4" descr="icons/star-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5711" y="2833543"/>
            <a:ext cx="294803" cy="29480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222992" y="3429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Review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10296144" y="379476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real visits can review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— availability, conflicts, review rights — is enforced by the server, never the phone.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 and why each piece earned its place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6F2E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84832"/>
            <a:ext cx="566928" cy="566928"/>
          </a:xfrm>
          <a:prstGeom prst="ellipse">
            <a:avLst/>
          </a:prstGeom>
          <a:solidFill>
            <a:srgbClr val="141009"/>
          </a:solidFill>
          <a:ln/>
        </p:spPr>
      </p:sp>
      <p:pic>
        <p:nvPicPr>
          <p:cNvPr id="6" name="Image 0" descr="icons/smartphone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743" y="2220895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391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 · TypeScript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00200" y="2441448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 for Android &amp; iOS. Expo Go enabled live testing on two physical phones at once — customer and owner side by side.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6F2E7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084832"/>
            <a:ext cx="566928" cy="566928"/>
          </a:xfrm>
          <a:prstGeom prst="ellipse">
            <a:avLst/>
          </a:prstGeom>
          <a:solidFill>
            <a:srgbClr val="141009"/>
          </a:solidFill>
          <a:ln/>
        </p:spPr>
      </p:sp>
      <p:pic>
        <p:nvPicPr>
          <p:cNvPr id="11" name="Image 1" descr="icons/server-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2220895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0391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· Java 17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269480" y="2441448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controllers / services / repositories. DI, validation, scheduled jobs and security out of the box; compile-time safety for booking logic.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6F2E7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325112"/>
            <a:ext cx="566928" cy="566928"/>
          </a:xfrm>
          <a:prstGeom prst="ellipse">
            <a:avLst/>
          </a:prstGeom>
          <a:solidFill>
            <a:srgbClr val="141009"/>
          </a:solidFill>
          <a:ln/>
        </p:spPr>
      </p:sp>
      <p:pic>
        <p:nvPicPr>
          <p:cNvPr id="16" name="Image 2" descr="icons/database-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743" y="4461175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2793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600200" y="4681728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tables, UUID keys, foreign-key integrity. ACID transactions stop two customers booking the same slot at the same instant.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402336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6F2E7"/>
          </a:solidFill>
          <a:ln/>
        </p:spPr>
      </p:sp>
      <p:sp>
        <p:nvSpPr>
          <p:cNvPr id="20" name="Shape 15"/>
          <p:cNvSpPr/>
          <p:nvPr/>
        </p:nvSpPr>
        <p:spPr>
          <a:xfrm>
            <a:off x="6537960" y="4325112"/>
            <a:ext cx="566928" cy="566928"/>
          </a:xfrm>
          <a:prstGeom prst="ellipse">
            <a:avLst/>
          </a:prstGeom>
          <a:solidFill>
            <a:srgbClr val="141009"/>
          </a:solidFill>
          <a:ln/>
        </p:spPr>
      </p:sp>
      <p:pic>
        <p:nvPicPr>
          <p:cNvPr id="21" name="Image 3" descr="icons/lock-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4023" y="4461175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2793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security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269480" y="4681728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tokens carry identity and role; passwords hashed with BCrypt; every mutation re-checks ownership server-side.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modular monolith with clean seams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377440" cy="2194560"/>
          </a:xfrm>
          <a:prstGeom prst="roundRect">
            <a:avLst>
              <a:gd name="adj" fmla="val 4167"/>
            </a:avLst>
          </a:prstGeom>
          <a:solidFill>
            <a:srgbClr val="141009"/>
          </a:solidFill>
          <a:ln/>
        </p:spPr>
      </p:sp>
      <p:pic>
        <p:nvPicPr>
          <p:cNvPr id="5" name="Image 0" descr="icons/smartphone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5603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291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A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app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31520" y="3611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&amp; local state only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154680" y="3200400"/>
            <a:ext cx="685800" cy="384048"/>
          </a:xfrm>
          <a:prstGeom prst="rightArrow">
            <a:avLst/>
          </a:prstGeom>
          <a:solidFill>
            <a:srgbClr val="C9A84C"/>
          </a:solidFill>
          <a:ln/>
        </p:spPr>
      </p:sp>
      <p:sp>
        <p:nvSpPr>
          <p:cNvPr id="9" name="Text 6"/>
          <p:cNvSpPr/>
          <p:nvPr/>
        </p:nvSpPr>
        <p:spPr>
          <a:xfrm>
            <a:off x="2880360" y="2788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· JSON · JWT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023360" y="1920240"/>
            <a:ext cx="4663440" cy="3017520"/>
          </a:xfrm>
          <a:prstGeom prst="roundRect">
            <a:avLst>
              <a:gd name="adj" fmla="val 3030"/>
            </a:avLst>
          </a:prstGeom>
          <a:solidFill>
            <a:srgbClr val="F6F2E7"/>
          </a:solidFill>
          <a:ln/>
        </p:spPr>
      </p:sp>
      <p:sp>
        <p:nvSpPr>
          <p:cNvPr id="11" name="Text 8"/>
          <p:cNvSpPr/>
          <p:nvPr/>
        </p:nvSpPr>
        <p:spPr>
          <a:xfrm>
            <a:off x="4251960" y="21031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— modular monolith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251960" y="2514600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4434840" y="255117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— HTTP &amp; validation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251960" y="3081528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4434840" y="31181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— Auth · Shop · Booking · Review · Post · Queue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251960" y="3648456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4434840" y="36850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 — Spring Data JPA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251960" y="4215384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4434840" y="4251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Schedulers — auto-confirm (10 s) · auto-complete (60 s)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796528" y="3200400"/>
            <a:ext cx="685800" cy="384048"/>
          </a:xfrm>
          <a:prstGeom prst="rightArrow">
            <a:avLst/>
          </a:prstGeom>
          <a:solidFill>
            <a:srgbClr val="C9A84C"/>
          </a:solidFill>
          <a:ln/>
        </p:spPr>
      </p:sp>
      <p:sp>
        <p:nvSpPr>
          <p:cNvPr id="21" name="Shape 18"/>
          <p:cNvSpPr/>
          <p:nvPr/>
        </p:nvSpPr>
        <p:spPr>
          <a:xfrm>
            <a:off x="9601200" y="2286000"/>
            <a:ext cx="2103120" cy="2194560"/>
          </a:xfrm>
          <a:prstGeom prst="roundRect">
            <a:avLst>
              <a:gd name="adj" fmla="val 4348"/>
            </a:avLst>
          </a:prstGeom>
          <a:solidFill>
            <a:srgbClr val="141009"/>
          </a:solidFill>
          <a:ln/>
        </p:spPr>
      </p:sp>
      <p:pic>
        <p:nvPicPr>
          <p:cNvPr id="22" name="Image 1" descr="icons/database-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606040"/>
            <a:ext cx="640080" cy="64008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9692640" y="3337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A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9692640" y="3657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7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tables · UUID keys · FK integrity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640080" y="5349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microservices? </a:t>
            </a:r>
            <a:pPr indent="0" marL="0">
              <a:buNone/>
            </a:pPr>
            <a:r>
              <a:rPr lang="en-US" sz="13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boundaries are already clean (each domain owns its logic and repositories), but one deployable avoids network latency and distributed transactions at this scale. Any service can be extracted later — a deliberate migration path.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ALGORITHM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booking slot engine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84708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shop’s opening window for that weekday, apply 30-min buffers after open and before close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660904"/>
            <a:ext cx="457200" cy="45720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63347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candidate start times at 30-minute intervals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447288"/>
            <a:ext cx="457200" cy="45720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3419856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candidates whose service duration will not finish inside the window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233672"/>
            <a:ext cx="457200" cy="45720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42062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candidates overlapping any existing booking (start &lt; bEnd AND bStart &lt; end, per-service durations)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020056"/>
            <a:ext cx="457200" cy="45720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020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4992624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date is today, drop times already in the past — then re-verify everything at write time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0" y="1828800"/>
            <a:ext cx="4754880" cy="3977640"/>
          </a:xfrm>
          <a:prstGeom prst="roundRect">
            <a:avLst>
              <a:gd name="adj" fmla="val 2759"/>
            </a:avLst>
          </a:prstGeom>
          <a:solidFill>
            <a:srgbClr val="141009"/>
          </a:solidFill>
          <a:ln/>
        </p:spPr>
      </p:sp>
      <p:sp>
        <p:nvSpPr>
          <p:cNvPr id="20" name="Text 18"/>
          <p:cNvSpPr/>
          <p:nvPr/>
        </p:nvSpPr>
        <p:spPr>
          <a:xfrm>
            <a:off x="7178040" y="2057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Tuesday, open 04:00–22:00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78040" y="25146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04:00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641080" y="2514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A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opens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178040" y="2971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04:30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641080" y="2971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A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bookable slot (buffer)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178040" y="34290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641080" y="3429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A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 — 200-min service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178040" y="3886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09:30 – 12:00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641080" y="3886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A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Hidden: overlaps that booking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178040" y="43434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21:00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641080" y="4343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A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slot for a 30-min cut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178040" y="48006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21:30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641080" y="4800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A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must finish (buffer)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178040" y="5257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22:00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641080" y="5257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A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closes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178040" y="58704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 never decides availability — it only displays it.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how Ghana actually gets a haircut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297680"/>
          </a:xfrm>
          <a:prstGeom prst="roundRect">
            <a:avLst>
              <a:gd name="adj" fmla="val 2553"/>
            </a:avLst>
          </a:prstGeom>
          <a:solidFill>
            <a:srgbClr val="F6F2E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141009"/>
          </a:solidFill>
          <a:ln/>
        </p:spPr>
      </p:sp>
      <p:pic>
        <p:nvPicPr>
          <p:cNvPr id="6" name="Image 0" descr="icons/users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" y="22567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2128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Walk-in queue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914400" y="2971800"/>
            <a:ext cx="502920" cy="50292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600200" y="2971800"/>
            <a:ext cx="502920" cy="502920"/>
          </a:xfrm>
          <a:prstGeom prst="ellipse">
            <a:avLst/>
          </a:prstGeom>
          <a:solidFill>
            <a:srgbClr val="E4DCC8"/>
          </a:solidFill>
          <a:ln/>
        </p:spPr>
      </p:sp>
      <p:sp>
        <p:nvSpPr>
          <p:cNvPr id="11" name="Text 8"/>
          <p:cNvSpPr/>
          <p:nvPr/>
        </p:nvSpPr>
        <p:spPr>
          <a:xfrm>
            <a:off x="160020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286000" y="2971800"/>
            <a:ext cx="502920" cy="502920"/>
          </a:xfrm>
          <a:prstGeom prst="ellipse">
            <a:avLst/>
          </a:prstGeom>
          <a:solidFill>
            <a:srgbClr val="E4DCC8"/>
          </a:solidFill>
          <a:ln/>
        </p:spPr>
      </p:sp>
      <p:sp>
        <p:nvSpPr>
          <p:cNvPr id="13" name="Text 10"/>
          <p:cNvSpPr/>
          <p:nvPr/>
        </p:nvSpPr>
        <p:spPr>
          <a:xfrm>
            <a:off x="228600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14400" y="379476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remotely, watch your position update live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= join order; wait = sum of service durations ahead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calls next / marks done; leaving re-ranks everyone instantly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active queue per customer, enforced server-side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63640" y="1783080"/>
            <a:ext cx="5440680" cy="4297680"/>
          </a:xfrm>
          <a:prstGeom prst="roundRect">
            <a:avLst>
              <a:gd name="adj" fmla="val 2553"/>
            </a:avLst>
          </a:prstGeom>
          <a:solidFill>
            <a:srgbClr val="F6F2E7"/>
          </a:solidFill>
          <a:ln/>
        </p:spPr>
      </p:sp>
      <p:sp>
        <p:nvSpPr>
          <p:cNvPr id="16" name="Shape 13"/>
          <p:cNvSpPr/>
          <p:nvPr/>
        </p:nvSpPr>
        <p:spPr>
          <a:xfrm>
            <a:off x="6629400" y="2103120"/>
            <a:ext cx="640080" cy="640080"/>
          </a:xfrm>
          <a:prstGeom prst="ellipse">
            <a:avLst/>
          </a:prstGeom>
          <a:solidFill>
            <a:srgbClr val="141009"/>
          </a:solidFill>
          <a:ln/>
        </p:spPr>
      </p:sp>
      <p:pic>
        <p:nvPicPr>
          <p:cNvPr id="17" name="Image 1" descr="icons/mappin-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019" y="2256739"/>
            <a:ext cx="332842" cy="33284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452360" y="22128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 me (GPS)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6629400" y="3017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2R·atan2(√a, √(1−a))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629400" y="379476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great-circle distance from phone to every shop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nearest-first with distance shown in km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pin their shop with one tap while standing in it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 without coordinates sort last — never hidden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trust the client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66928" cy="566928"/>
          </a:xfrm>
          <a:prstGeom prst="ellipse">
            <a:avLst/>
          </a:prstGeom>
          <a:solidFill>
            <a:srgbClr val="141009"/>
          </a:solidFill>
          <a:ln/>
        </p:spPr>
      </p:sp>
      <p:pic>
        <p:nvPicPr>
          <p:cNvPr id="5" name="Image 0" descr="icons/key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2010583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89888" y="1819656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JWT authentication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389888" y="2130552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tokens carry user ID + role; validated on every request by a security filter. No server sessions — horizontal scaling is free.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063240"/>
            <a:ext cx="566928" cy="566928"/>
          </a:xfrm>
          <a:prstGeom prst="ellipse">
            <a:avLst/>
          </a:prstGeom>
          <a:solidFill>
            <a:srgbClr val="141009"/>
          </a:solidFill>
          <a:ln/>
        </p:spPr>
      </p:sp>
      <p:pic>
        <p:nvPicPr>
          <p:cNvPr id="9" name="Image 1" descr="icons/lock-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43" y="3199303"/>
            <a:ext cx="294803" cy="2948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89888" y="3008376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389888" y="3319272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Salted, deliberately slow hashes — a leaked database still would not yield passwords.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251960"/>
            <a:ext cx="566928" cy="566928"/>
          </a:xfrm>
          <a:prstGeom prst="ellipse">
            <a:avLst/>
          </a:prstGeom>
          <a:solidFill>
            <a:srgbClr val="141009"/>
          </a:solidFill>
          <a:ln/>
        </p:spPr>
      </p:sp>
      <p:pic>
        <p:nvPicPr>
          <p:cNvPr id="13" name="Image 2" descr="icons/shield-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43" y="4388023"/>
            <a:ext cx="294803" cy="29480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89888" y="4197096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checks on every mutation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389888" y="4507992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a service first proves that service belongs to the authenticated owner’s shop — role AND resource checks.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440680"/>
            <a:ext cx="566928" cy="566928"/>
          </a:xfrm>
          <a:prstGeom prst="ellipse">
            <a:avLst/>
          </a:prstGeom>
          <a:solidFill>
            <a:srgbClr val="141009"/>
          </a:solidFill>
          <a:ln/>
        </p:spPr>
      </p:sp>
      <p:pic>
        <p:nvPicPr>
          <p:cNvPr id="17" name="Image 3" descr="icons/database-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43" y="5576743"/>
            <a:ext cx="294803" cy="2948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89888" y="5385816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 only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389888" y="5696712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access via Spring Data JPA — user input is bound, never concatenated. SQL injection has no entry point.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7040880" y="2103120"/>
            <a:ext cx="4572000" cy="3566160"/>
          </a:xfrm>
          <a:prstGeom prst="roundRect">
            <a:avLst>
              <a:gd name="adj" fmla="val 3077"/>
            </a:avLst>
          </a:prstGeom>
          <a:solidFill>
            <a:srgbClr val="141009"/>
          </a:solidFill>
          <a:ln/>
        </p:spPr>
      </p:sp>
      <p:sp>
        <p:nvSpPr>
          <p:cNvPr id="21" name="Text 15"/>
          <p:cNvSpPr/>
          <p:nvPr/>
        </p:nvSpPr>
        <p:spPr>
          <a:xfrm>
            <a:off x="7360920" y="2468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360920" y="29260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3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Anything that matters is re-checked on the server.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7360920" y="39776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availability, double bookings, review eligibility, photo limits, queue rules — the app is a window, not a judge.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went wrong, and what it taught 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39312" cy="4206240"/>
          </a:xfrm>
          <a:prstGeom prst="roundRect">
            <a:avLst>
              <a:gd name="adj" fmla="val 3015"/>
            </a:avLst>
          </a:prstGeom>
          <a:solidFill>
            <a:srgbClr val="F6F2E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603504" cy="603504"/>
          </a:xfrm>
          <a:prstGeom prst="ellipse">
            <a:avLst/>
          </a:prstGeom>
          <a:solidFill>
            <a:srgbClr val="141009"/>
          </a:solidFill>
          <a:ln/>
        </p:spPr>
      </p:sp>
      <p:pic>
        <p:nvPicPr>
          <p:cNvPr id="6" name="Image 0" descr="icons/tool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521" y="2293681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21284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 vs. a new JDK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0632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JDK 26 update made the build fail with 100 phantom errors — Lombok silently stopped generating code. Pinned the toolchain to JDK 17 via a Maven pre-run script.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5029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 versions are part of the project, not the machine.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62272" y="1828800"/>
            <a:ext cx="3639312" cy="4206240"/>
          </a:xfrm>
          <a:prstGeom prst="roundRect">
            <a:avLst>
              <a:gd name="adj" fmla="val 3015"/>
            </a:avLst>
          </a:prstGeom>
          <a:solidFill>
            <a:srgbClr val="F6F2E7"/>
          </a:solidFill>
          <a:ln/>
        </p:spPr>
      </p:sp>
      <p:sp>
        <p:nvSpPr>
          <p:cNvPr id="11" name="Shape 8"/>
          <p:cNvSpPr/>
          <p:nvPr/>
        </p:nvSpPr>
        <p:spPr>
          <a:xfrm>
            <a:off x="4782312" y="2148840"/>
            <a:ext cx="603504" cy="603504"/>
          </a:xfrm>
          <a:prstGeom prst="ellipse">
            <a:avLst/>
          </a:prstGeom>
          <a:solidFill>
            <a:srgbClr val="141009"/>
          </a:solidFill>
          <a:ln/>
        </p:spPr>
      </p:sp>
      <p:pic>
        <p:nvPicPr>
          <p:cNvPr id="12" name="Image 1" descr="icons/alert-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153" y="2293681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59552" y="221284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double-booking race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782312" y="30632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phones could see the same free slot and both confirm. Fixed with interval-overlap re-checks inside the create-booking transaction.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82312" y="5029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checks are UX; only server checks are rules.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375904" y="1828800"/>
            <a:ext cx="3639312" cy="4206240"/>
          </a:xfrm>
          <a:prstGeom prst="roundRect">
            <a:avLst>
              <a:gd name="adj" fmla="val 3015"/>
            </a:avLst>
          </a:prstGeom>
          <a:solidFill>
            <a:srgbClr val="F6F2E7"/>
          </a:solidFill>
          <a:ln/>
        </p:spPr>
      </p:sp>
      <p:sp>
        <p:nvSpPr>
          <p:cNvPr id="17" name="Shape 13"/>
          <p:cNvSpPr/>
          <p:nvPr/>
        </p:nvSpPr>
        <p:spPr>
          <a:xfrm>
            <a:off x="8695944" y="2148840"/>
            <a:ext cx="603504" cy="603504"/>
          </a:xfrm>
          <a:prstGeom prst="ellipse">
            <a:avLst/>
          </a:prstGeom>
          <a:solidFill>
            <a:srgbClr val="141009"/>
          </a:solidFill>
          <a:ln/>
        </p:spPr>
      </p:sp>
      <p:pic>
        <p:nvPicPr>
          <p:cNvPr id="18" name="Image 2" descr="icons/zap-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785" y="2293681"/>
            <a:ext cx="313822" cy="31382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473184" y="221284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 vs. networks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695944" y="30632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errors that were really a wrong IP, a missing port, or mobile data hijacking traffic. Learned to debug layer by layer: server → phone browser → app.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695944" y="5029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layers before touching code.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0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3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clear road from project to product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005840"/>
          </a:xfrm>
          <a:prstGeom prst="roundRect">
            <a:avLst>
              <a:gd name="adj" fmla="val 9091"/>
            </a:avLst>
          </a:prstGeom>
          <a:solidFill>
            <a:srgbClr val="241D0F"/>
          </a:solidFill>
          <a:ln/>
        </p:spPr>
      </p:sp>
      <p:pic>
        <p:nvPicPr>
          <p:cNvPr id="5" name="Image 0" descr="icons/creditcard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9110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 payments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463040" y="228600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 deposits — kills no-shows, monetizes plans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17920" y="1783080"/>
            <a:ext cx="5394960" cy="1005840"/>
          </a:xfrm>
          <a:prstGeom prst="roundRect">
            <a:avLst>
              <a:gd name="adj" fmla="val 9091"/>
            </a:avLst>
          </a:prstGeom>
          <a:solidFill>
            <a:srgbClr val="241D0F"/>
          </a:solidFill>
          <a:ln/>
        </p:spPr>
      </p:sp>
      <p:pic>
        <p:nvPicPr>
          <p:cNvPr id="9" name="Image 1" descr="icons/bell-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574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0" y="19110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push notifications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7132320" y="228600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"You’re next" queue alerts via a development build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017520"/>
            <a:ext cx="5394960" cy="1005840"/>
          </a:xfrm>
          <a:prstGeom prst="roundRect">
            <a:avLst>
              <a:gd name="adj" fmla="val 9091"/>
            </a:avLst>
          </a:prstGeom>
          <a:solidFill>
            <a:srgbClr val="241D0F"/>
          </a:solidFill>
          <a:ln/>
        </p:spPr>
      </p:sp>
      <p:pic>
        <p:nvPicPr>
          <p:cNvPr id="13" name="Image 2" descr="icons/cloud-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918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1455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463040" y="352044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is already environment-ready, Dockerfile included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17920" y="3017520"/>
            <a:ext cx="5394960" cy="1005840"/>
          </a:xfrm>
          <a:prstGeom prst="roundRect">
            <a:avLst>
              <a:gd name="adj" fmla="val 9091"/>
            </a:avLst>
          </a:prstGeom>
          <a:solidFill>
            <a:srgbClr val="241D0F"/>
          </a:solidFill>
          <a:ln/>
        </p:spPr>
      </p:sp>
      <p:pic>
        <p:nvPicPr>
          <p:cNvPr id="17" name="Image 3" descr="icons/users-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29184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32320" y="31455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Staff-level calendars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7132320" y="352044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specific barber, each with their own schedule</a:t>
            </a:r>
            <a:endParaRPr lang="en-US" sz="1150" dirty="0"/>
          </a:p>
        </p:txBody>
      </p:sp>
      <p:pic>
        <p:nvPicPr>
          <p:cNvPr id="20" name="Image 4" descr="icon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2996" y="4526280"/>
            <a:ext cx="822960" cy="8229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0" y="5440680"/>
            <a:ext cx="12188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22" name="Text 15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A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— the demo is live.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2026-07-14T06:23:17Z</dcterms:created>
  <dcterms:modified xsi:type="dcterms:W3CDTF">2026-07-14T06:23:17Z</dcterms:modified>
</cp:coreProperties>
</file>